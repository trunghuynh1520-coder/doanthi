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4572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1" dirty="0">
                <a:solidFill>
                  <a:srgbClr val="DDAE55"/>
                </a:solidFill>
                <a:latin typeface="Aptos"/>
              </a:rPr>
              <a:t>TUẦN 06  /  SPRINT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492240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NHÀ HÀNG MÓN HUẾ
ĐẶT BÀN &amp; GỌI MÓN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557784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900" b="0" dirty="0" err="1">
                <a:solidFill>
                  <a:srgbClr val="D2DDDA"/>
                </a:solidFill>
                <a:latin typeface="Aptos"/>
              </a:rPr>
              <a:t>Từ</a:t>
            </a:r>
            <a:r>
              <a:rPr sz="1900" b="0" dirty="0">
                <a:solidFill>
                  <a:srgbClr val="D2DDDA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D2DDDA"/>
                </a:solidFill>
                <a:latin typeface="Aptos"/>
              </a:rPr>
              <a:t>mô</a:t>
            </a:r>
            <a:r>
              <a:rPr sz="1900" b="0" dirty="0">
                <a:solidFill>
                  <a:srgbClr val="D2DDDA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D2DDDA"/>
                </a:solidFill>
                <a:latin typeface="Aptos"/>
              </a:rPr>
              <a:t>hình</a:t>
            </a:r>
            <a:r>
              <a:rPr sz="1900" b="0" dirty="0">
                <a:solidFill>
                  <a:srgbClr val="D2DDDA"/>
                </a:solidFill>
                <a:latin typeface="Aptos"/>
              </a:rPr>
              <a:t> eShop </a:t>
            </a:r>
            <a:r>
              <a:rPr sz="1900" b="0" dirty="0" err="1">
                <a:solidFill>
                  <a:srgbClr val="D2DDDA"/>
                </a:solidFill>
                <a:latin typeface="Aptos"/>
              </a:rPr>
              <a:t>đến</a:t>
            </a:r>
            <a:r>
              <a:rPr sz="1900" b="0" dirty="0">
                <a:solidFill>
                  <a:srgbClr val="D2DDDA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D2DDDA"/>
                </a:solidFill>
                <a:latin typeface="Aptos"/>
              </a:rPr>
              <a:t>luồng</a:t>
            </a:r>
            <a:r>
              <a:rPr sz="1900" b="0" dirty="0">
                <a:solidFill>
                  <a:srgbClr val="D2DDDA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D2DDDA"/>
                </a:solidFill>
                <a:latin typeface="Aptos"/>
              </a:rPr>
              <a:t>phục</a:t>
            </a:r>
            <a:r>
              <a:rPr sz="1900" b="0" dirty="0">
                <a:solidFill>
                  <a:srgbClr val="D2DDDA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D2DDDA"/>
                </a:solidFill>
                <a:latin typeface="Aptos"/>
              </a:rPr>
              <a:t>vụ</a:t>
            </a:r>
            <a:r>
              <a:rPr sz="1900" b="0" dirty="0">
                <a:solidFill>
                  <a:srgbClr val="D2DDDA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D2DDDA"/>
                </a:solidFill>
                <a:latin typeface="Aptos"/>
              </a:rPr>
              <a:t>tại</a:t>
            </a:r>
            <a:r>
              <a:rPr sz="1900" b="0" dirty="0">
                <a:solidFill>
                  <a:srgbClr val="D2DDDA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D2DDDA"/>
                </a:solidFill>
                <a:latin typeface="Aptos"/>
              </a:rPr>
              <a:t>bàn</a:t>
            </a:r>
            <a:endParaRPr sz="1900" b="0" dirty="0">
              <a:solidFill>
                <a:srgbClr val="D2DDDA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0" y="685800"/>
            <a:ext cx="4160520" cy="5349240"/>
          </a:xfrm>
          <a:prstGeom prst="roundRect">
            <a:avLst/>
          </a:prstGeom>
          <a:solidFill>
            <a:srgbClr val="1F3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96012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b="1">
                <a:solidFill>
                  <a:srgbClr val="DDAE55"/>
                </a:solidFill>
                <a:latin typeface="Aptos"/>
              </a:rPr>
              <a:t>ÁNH XẠ MIỀN NGHIỆP VỤ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572768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C8D7D4"/>
                </a:solidFill>
                <a:latin typeface="Aptos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572768"/>
            <a:ext cx="27432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600" b="1">
                <a:solidFill>
                  <a:srgbClr val="DDAE55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572768"/>
            <a:ext cx="16002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MenuItem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05456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C8D7D4"/>
                </a:solidFill>
                <a:latin typeface="Aptos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505456"/>
            <a:ext cx="27432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600" b="1">
                <a:solidFill>
                  <a:srgbClr val="DDAE55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2505456"/>
            <a:ext cx="16002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MenuCategory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438144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C8D7D4"/>
                </a:solidFill>
                <a:latin typeface="Aptos"/>
              </a:rPr>
              <a:t>ShoppingCart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438144"/>
            <a:ext cx="27432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600" b="1">
                <a:solidFill>
                  <a:srgbClr val="DDAE55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3438144"/>
            <a:ext cx="16002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ScopedOrderState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370832"/>
            <a:ext cx="1444752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C8D7D4"/>
                </a:solidFill>
                <a:latin typeface="Aptos"/>
              </a:rPr>
              <a:t>Order / OrderLine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370832"/>
            <a:ext cx="274320" cy="3017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600" b="1">
                <a:solidFill>
                  <a:srgbClr val="DDAE55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4370832"/>
            <a:ext cx="16002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TableOrder / TableOrderLine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6126480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0" dirty="0">
                <a:solidFill>
                  <a:srgbClr val="B3C5C1"/>
                </a:solidFill>
                <a:latin typeface="Aptos"/>
              </a:rPr>
              <a:t>Thành </a:t>
            </a:r>
            <a:r>
              <a:rPr sz="2000" b="0" dirty="0" err="1">
                <a:solidFill>
                  <a:srgbClr val="B3C5C1"/>
                </a:solidFill>
                <a:latin typeface="Aptos"/>
              </a:rPr>
              <a:t>viên</a:t>
            </a:r>
            <a:r>
              <a:rPr sz="2000" b="0" dirty="0">
                <a:solidFill>
                  <a:srgbClr val="B3C5C1"/>
                </a:solidFill>
                <a:latin typeface="Aptos"/>
              </a:rPr>
              <a:t>: </a:t>
            </a:r>
            <a:r>
              <a:rPr lang="en-US" sz="2000" dirty="0">
                <a:solidFill>
                  <a:srgbClr val="B3C5C1"/>
                </a:solidFill>
                <a:latin typeface="Aptos"/>
              </a:rPr>
              <a:t>Huỳnh </a:t>
            </a:r>
            <a:r>
              <a:rPr lang="en-US" sz="2000" dirty="0" err="1">
                <a:solidFill>
                  <a:srgbClr val="B3C5C1"/>
                </a:solidFill>
                <a:latin typeface="Aptos"/>
              </a:rPr>
              <a:t>Thế</a:t>
            </a:r>
            <a:r>
              <a:rPr lang="en-US" sz="2000" dirty="0">
                <a:solidFill>
                  <a:srgbClr val="B3C5C1"/>
                </a:solidFill>
                <a:latin typeface="Aptos"/>
              </a:rPr>
              <a:t> Trung</a:t>
            </a:r>
            <a:endParaRPr sz="2000" b="0" dirty="0">
              <a:solidFill>
                <a:srgbClr val="B3C5C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473952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 b="1">
                <a:solidFill>
                  <a:srgbClr val="B3C5C1"/>
                </a:solidFill>
                <a:latin typeface="Aptos"/>
              </a:rPr>
              <a:t>ĐỀ TÀI 11  •  ĐỘ KHÓ 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1">
                <a:solidFill>
                  <a:srgbClr val="B3C5C1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1E7E77"/>
                </a:solidFill>
                <a:latin typeface="Aptos"/>
              </a:rPr>
              <a:t>01  / 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700" b="1">
                <a:solidFill>
                  <a:srgbClr val="162634"/>
                </a:solidFill>
                <a:latin typeface="Aptos"/>
              </a:rPr>
              <a:t>Kiến trúc 4 tầng, dữ liệu tập trung SQL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6459"/>
          </a:xfrm>
          <a:prstGeom prst="rect">
            <a:avLst/>
          </a:prstGeom>
          <a:solidFill>
            <a:srgbClr val="D7D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 b="1">
                <a:solidFill>
                  <a:srgbClr val="64747C"/>
                </a:solidFill>
                <a:latin typeface="Aptos"/>
              </a:rPr>
              <a:t>ĐỀ TÀI 11  •  NHÀ HÀNG MÓN HUẾ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1">
                <a:solidFill>
                  <a:srgbClr val="64747C"/>
                </a:solidFill>
                <a:latin typeface="Aptos"/>
              </a:rPr>
              <a:t>02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2514600" cy="153619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514600" cy="109728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93392"/>
            <a:ext cx="219456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62634"/>
                </a:solidFill>
                <a:latin typeface="Aptos"/>
              </a:rPr>
              <a:t>WebApp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41448"/>
            <a:ext cx="2194560" cy="612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747C"/>
                </a:solidFill>
                <a:latin typeface="Aptos"/>
              </a:rPr>
              <a:t>Blazor InteractiveServer
UI • DI Composition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67712"/>
            <a:ext cx="31089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E7E7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737360"/>
            <a:ext cx="2514600" cy="153619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11296" y="1737360"/>
            <a:ext cx="2514600" cy="109728"/>
          </a:xfrm>
          <a:prstGeom prst="rect">
            <a:avLst/>
          </a:prstGeom>
          <a:solidFill>
            <a:srgbClr val="40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5887" y="1993392"/>
            <a:ext cx="219456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62634"/>
                </a:solidFill>
                <a:latin typeface="Aptos"/>
              </a:rPr>
              <a:t>UseCases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441448"/>
            <a:ext cx="2194560" cy="612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747C"/>
                </a:solidFill>
                <a:latin typeface="Aptos"/>
              </a:rPr>
              <a:t>Luồng ứng dụng
Repository interfaces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7" y="2267712"/>
            <a:ext cx="31089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E7E7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1737360"/>
            <a:ext cx="2514600" cy="153619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64224" y="1737360"/>
            <a:ext cx="2514600" cy="109728"/>
          </a:xfrm>
          <a:prstGeom prst="rect">
            <a:avLst/>
          </a:prstGeom>
          <a:solidFill>
            <a:srgbClr val="D4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816" y="1993392"/>
            <a:ext cx="219456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62634"/>
                </a:solidFill>
                <a:latin typeface="Aptos"/>
              </a:rPr>
              <a:t>CoreBusiness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441448"/>
            <a:ext cx="2194560" cy="612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747C"/>
                </a:solidFill>
                <a:latin typeface="Aptos"/>
              </a:rPr>
              <a:t>Entities &amp; luật nghiệp vụ
độc lập giao diện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2267712"/>
            <a:ext cx="31089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E7E77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1737360"/>
            <a:ext cx="2514600" cy="153619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17152" y="1737360"/>
            <a:ext cx="2514600" cy="109728"/>
          </a:xfrm>
          <a:prstGeom prst="rect">
            <a:avLst/>
          </a:prstGeom>
          <a:solidFill>
            <a:srgbClr val="DDA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81744" y="1993392"/>
            <a:ext cx="219456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700" b="1">
                <a:solidFill>
                  <a:srgbClr val="162634"/>
                </a:solidFill>
                <a:latin typeface="Aptos"/>
              </a:rPr>
              <a:t>SQL 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2441448"/>
            <a:ext cx="2194560" cy="612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747C"/>
                </a:solidFill>
                <a:latin typeface="Aptos"/>
              </a:rPr>
              <a:t>Dapper repositories
SQL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84448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1E7E77"/>
                </a:solidFill>
                <a:latin typeface="Aptos"/>
              </a:rPr>
              <a:t>MŨI TÊN PHỤ THUỘC HƯỚNG VÀO USE CASE / DOMAIN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069080"/>
            <a:ext cx="3493008" cy="16459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4069080"/>
            <a:ext cx="64008" cy="1645920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4242816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6 bảng dữ liệu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672584"/>
            <a:ext cx="3108960" cy="9326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MenuCategory • MenuItem • DiningTable
Reservation • TableOrder • TableOrderLine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069080"/>
            <a:ext cx="3493008" cy="16459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43400" y="4069080"/>
            <a:ext cx="64008" cy="1645920"/>
          </a:xfrm>
          <a:prstGeom prst="rect">
            <a:avLst/>
          </a:prstGeom>
          <a:solidFill>
            <a:srgbClr val="D4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44568" y="4242816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Ghi phiếu theo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672584"/>
            <a:ext cx="3108960" cy="9326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Header và các dòng món được ghi trong
cùng transaction; có commit / rollback.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8431" y="4069080"/>
            <a:ext cx="3493008" cy="16459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28431" y="4069080"/>
            <a:ext cx="64008" cy="1645920"/>
          </a:xfrm>
          <a:prstGeom prst="rect">
            <a:avLst/>
          </a:prstGeom>
          <a:solidFill>
            <a:srgbClr val="DDA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4242816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Truy vấn an toàn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672584"/>
            <a:ext cx="3108960" cy="9326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Dapper với tham số SQL (@param);
không ghép dữ liệu đầu vào vào câu lệnh.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961888"/>
            <a:ext cx="106984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>
                <a:solidFill>
                  <a:srgbClr val="64747C"/>
                </a:solidFill>
                <a:latin typeface="Aptos"/>
              </a:rPr>
              <a:t>Công nghệ theo project: .NET 9 • Blazor • Dapper • SQL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1E7E77"/>
                </a:solidFill>
                <a:latin typeface="Aptos"/>
              </a:rPr>
              <a:t>02  /  TRỌNG TÂM VẤN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700" b="1">
                <a:solidFill>
                  <a:srgbClr val="162634"/>
                </a:solidFill>
                <a:latin typeface="Aptos"/>
              </a:rPr>
              <a:t>Hai luật nghiệp vụ được đặt trong CoreBusiness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6459"/>
          </a:xfrm>
          <a:prstGeom prst="rect">
            <a:avLst/>
          </a:prstGeom>
          <a:solidFill>
            <a:srgbClr val="D7D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 b="1">
                <a:solidFill>
                  <a:srgbClr val="64747C"/>
                </a:solidFill>
                <a:latin typeface="Aptos"/>
              </a:rPr>
              <a:t>ĐỀ TÀI 11  •  NHÀ HÀNG MÓN HUẾ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1">
                <a:solidFill>
                  <a:srgbClr val="64747C"/>
                </a:solidFill>
                <a:latin typeface="Aptos"/>
              </a:rPr>
              <a:t>03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5394960" cy="361188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64008" cy="3611880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501091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01  ĐẶT BÀN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95144"/>
            <a:ext cx="5010912" cy="2898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0">
                <a:solidFill>
                  <a:srgbClr val="1F2B34"/>
                </a:solidFill>
                <a:latin typeface="Aptos"/>
              </a:rPr>
              <a:t>• Khách không vượt sức chứa của bàn.
• Hai đặt chỗ của cùng bàn cách nhau ít nhất 2 giờ.
• Kiểm tra tại Reservation.IsValidReservation();
  CreateReservationUseCase gọi trước khi lưu.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91640"/>
            <a:ext cx="5340096" cy="361188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691640"/>
            <a:ext cx="64008" cy="3611880"/>
          </a:xfrm>
          <a:prstGeom prst="rect">
            <a:avLst/>
          </a:prstGeom>
          <a:solidFill>
            <a:srgbClr val="D4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65376"/>
            <a:ext cx="4956048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02  GỌI MÓN &amp; ĐÓNG BILL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95144"/>
            <a:ext cx="4956048" cy="2898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0">
                <a:solidFill>
                  <a:srgbClr val="1F2B34"/>
                </a:solidFill>
                <a:latin typeface="Aptos"/>
              </a:rPr>
              <a:t>• Chỉ thêm món khi bàn đang được sử dụng.
• Tổng hóa đơn = tổng dòng món + phí phục vụ 10%.
• Hóa đơn đã đóng không nhận thêm món.
• Nằm trong TableOrder.AddLineItem() / CloseOrder().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96128"/>
            <a:ext cx="10881360" cy="566928"/>
          </a:xfrm>
          <a:prstGeom prst="roundRect">
            <a:avLst/>
          </a:prstGeom>
          <a:solidFill>
            <a:srgbClr val="E7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5733288"/>
            <a:ext cx="104241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162634"/>
                </a:solidFill>
                <a:latin typeface="Aptos"/>
              </a:rPr>
              <a:t>UI → UseCase → Entity kiểm tra luật → Repository lưu dữ liệu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1E7E77"/>
                </a:solidFill>
                <a:latin typeface="Aptos"/>
              </a:rPr>
              <a:t>03  /  TIẾN ĐỘ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700" b="1">
                <a:solidFill>
                  <a:srgbClr val="162634"/>
                </a:solidFill>
                <a:latin typeface="Aptos"/>
              </a:rPr>
              <a:t>Luồng nghiệp vụ và phần quản trị đã có trong mã nguồn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6459"/>
          </a:xfrm>
          <a:prstGeom prst="rect">
            <a:avLst/>
          </a:prstGeom>
          <a:solidFill>
            <a:srgbClr val="D7D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 b="1">
                <a:solidFill>
                  <a:srgbClr val="64747C"/>
                </a:solidFill>
                <a:latin typeface="Aptos"/>
              </a:rPr>
              <a:t>ĐỀ TÀI 11  •  NHÀ HÀNG MÓN HUẾ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1">
                <a:solidFill>
                  <a:srgbClr val="64747C"/>
                </a:solidFill>
                <a:latin typeface="Aptos"/>
              </a:rPr>
              <a:t>04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2468880" cy="14173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1">
                <a:solidFill>
                  <a:srgbClr val="1E7E7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04288"/>
            <a:ext cx="215798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62634"/>
                </a:solidFill>
                <a:latin typeface="Aptos"/>
              </a:rPr>
              <a:t>ĐẶT BÀN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88336"/>
            <a:ext cx="2157984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64747C"/>
                </a:solidFill>
                <a:latin typeface="Aptos"/>
              </a:rPr>
              <a:t>Form nhập thông tin
kiểm tra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276856"/>
            <a:ext cx="30175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D4694E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783080"/>
            <a:ext cx="2468880" cy="14173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193852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1">
                <a:solidFill>
                  <a:srgbClr val="1E7E77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304288"/>
            <a:ext cx="215798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62634"/>
                </a:solidFill>
                <a:latin typeface="Aptos"/>
              </a:rPr>
              <a:t>CHỌN MÓN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688336"/>
            <a:ext cx="2157984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64747C"/>
                </a:solidFill>
                <a:latin typeface="Aptos"/>
              </a:rPr>
              <a:t>Lọc thực đơn
thêm món vào phiếu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2276856"/>
            <a:ext cx="30175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D4694E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1783080"/>
            <a:ext cx="2468880" cy="14173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8816" y="193852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1">
                <a:solidFill>
                  <a:srgbClr val="1E7E7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2304288"/>
            <a:ext cx="215798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62634"/>
                </a:solidFill>
                <a:latin typeface="Aptos"/>
              </a:rPr>
              <a:t>LƯU PHIẾU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88336"/>
            <a:ext cx="2157984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64747C"/>
                </a:solidFill>
                <a:latin typeface="Aptos"/>
              </a:rPr>
              <a:t>Repository Dapper
transaction header +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2276856"/>
            <a:ext cx="30175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D4694E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1783080"/>
            <a:ext cx="2468880" cy="141732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81744" y="193852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1">
                <a:solidFill>
                  <a:srgbClr val="1E7E77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304288"/>
            <a:ext cx="215798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62634"/>
                </a:solidFill>
                <a:latin typeface="Aptos"/>
              </a:rPr>
              <a:t>THANH TOÁN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2688336"/>
            <a:ext cx="2157984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64747C"/>
                </a:solidFill>
                <a:latin typeface="Aptos"/>
              </a:rPr>
              <a:t>Đóng bill, tính phí
xuất phiếu chi tiết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703320"/>
            <a:ext cx="3493008" cy="1572768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3703320"/>
            <a:ext cx="64008" cy="1572768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" y="3877056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Quản trị bàn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306824"/>
            <a:ext cx="3108960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/admin/tables • yêu cầu vai trò Admin
Cookie Authentication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703320"/>
            <a:ext cx="3493008" cy="1572768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43400" y="3703320"/>
            <a:ext cx="64008" cy="1572768"/>
          </a:xfrm>
          <a:prstGeom prst="rect">
            <a:avLst/>
          </a:prstGeom>
          <a:solidFill>
            <a:srgbClr val="D4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44568" y="3877056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Giao diện dùng lại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4306824"/>
            <a:ext cx="3108960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MenuItemCard • TableStatusBadge
OrderSummaryPanel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1" y="3703320"/>
            <a:ext cx="3493008" cy="1572768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28431" y="3703320"/>
            <a:ext cx="64008" cy="1572768"/>
          </a:xfrm>
          <a:prstGeom prst="rect">
            <a:avLst/>
          </a:prstGeom>
          <a:solidFill>
            <a:srgbClr val="DDA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3877056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Xuất phiếu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306824"/>
            <a:ext cx="3108960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ExportBillUseCase đọc dữ liệu
phiếu và tạo nội dung hóa đơn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69280"/>
            <a:ext cx="106070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64747C"/>
                </a:solidFill>
                <a:latin typeface="Aptos"/>
              </a:rPr>
              <a:t>Khi demo: mở SQL Server và chạy thử luồng đặt bàn → gọi món → đóng bill để xác nhận cấu hình kết nối và dữ liệu thực tế.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1E7E77"/>
                </a:solidFill>
                <a:latin typeface="Aptos"/>
              </a:rPr>
              <a:t>04  /  MINH CHỨNG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700" b="1">
                <a:solidFill>
                  <a:srgbClr val="162634"/>
                </a:solidFill>
                <a:latin typeface="Aptos"/>
              </a:rPr>
              <a:t>Hồ sơ bảo vệ và các bước chốt trước buổi trình bày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6459"/>
          </a:xfrm>
          <a:prstGeom prst="rect">
            <a:avLst/>
          </a:prstGeom>
          <a:solidFill>
            <a:srgbClr val="D7D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900" b="1">
                <a:solidFill>
                  <a:srgbClr val="64747C"/>
                </a:solidFill>
                <a:latin typeface="Aptos"/>
              </a:rPr>
              <a:t>ĐỀ TÀI 11  •  NHÀ HÀNG MÓN HUẾ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/>
            <a:r>
              <a:rPr sz="900" b="1">
                <a:solidFill>
                  <a:srgbClr val="64747C"/>
                </a:solidFill>
                <a:latin typeface="Aptos"/>
              </a:rPr>
              <a:t>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5303520" cy="1874519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64008" cy="1874519"/>
          </a:xfrm>
          <a:prstGeom prst="rect">
            <a:avLst/>
          </a:prstGeom>
          <a:solidFill>
            <a:srgbClr val="1E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491947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TÀI LIỆU ĐÃ CÓ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95144"/>
            <a:ext cx="4919472" cy="11612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1F2B34"/>
                </a:solidFill>
                <a:latin typeface="Aptos"/>
              </a:rPr>
              <a:t>GRADING.md • đối chiếu rubric K1–K5
Docs/ • use case, class, sequence diagrams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691640"/>
            <a:ext cx="5440680" cy="1874519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08192" y="1691640"/>
            <a:ext cx="64008" cy="1874519"/>
          </a:xfrm>
          <a:prstGeom prst="rect">
            <a:avLst/>
          </a:prstGeom>
          <a:solidFill>
            <a:srgbClr val="D4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59" y="1865376"/>
            <a:ext cx="50566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62634"/>
                </a:solidFill>
                <a:latin typeface="Aptos"/>
              </a:rPr>
              <a:t>MÃ NGUỒN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295144"/>
            <a:ext cx="5056632" cy="11612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1F2B34"/>
                </a:solidFill>
                <a:latin typeface="Aptos"/>
              </a:rPr>
              <a:t>4 project theo Clean Architecture
SQL schema tại Plugins.DataStore.SQL/schema.sql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77639"/>
            <a:ext cx="38404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1">
                <a:solidFill>
                  <a:srgbClr val="1E7E77"/>
                </a:solidFill>
                <a:latin typeface="Aptos"/>
              </a:rPr>
              <a:t>CHECKLIST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07408"/>
            <a:ext cx="38404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D4694E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07408"/>
            <a:ext cx="99669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Khởi động ứng dụng và xác nhận kết nối SQL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38404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D4694E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00600"/>
            <a:ext cx="99669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Thử đặt bàn hợp lệ và trường hợp bị trùng / quá sức chứa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38404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D4694E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193792"/>
            <a:ext cx="99669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Gọi món, đóng hóa đơn và kiểm tra phí phục vụ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86984"/>
            <a:ext cx="38404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D4694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586984"/>
            <a:ext cx="99669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1F2B34"/>
                </a:solidFill>
                <a:latin typeface="Aptos"/>
              </a:rPr>
              <a:t>Đăng nhập Admin, mở trang bàn và xuất phiếu thanh toán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6099048"/>
            <a:ext cx="10881360" cy="310896"/>
          </a:xfrm>
          <a:prstGeom prst="roundRect">
            <a:avLst/>
          </a:prstGeom>
          <a:solidFill>
            <a:srgbClr val="16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6126480"/>
            <a:ext cx="105156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GitHub: github.com/trunghuynh1520-coder/DoAnThi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639</Words>
  <Application>Microsoft Office PowerPoint</Application>
  <PresentationFormat>Widescreen</PresentationFormat>
  <Paragraphs>95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trung huỳnh</cp:lastModifiedBy>
  <cp:revision>2</cp:revision>
  <dcterms:created xsi:type="dcterms:W3CDTF">2013-01-27T09:14:16Z</dcterms:created>
  <dcterms:modified xsi:type="dcterms:W3CDTF">2026-10-16T12:29:24Z</dcterms:modified>
  <cp:category/>
</cp:coreProperties>
</file>